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2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0222E"/>
                </a:solidFill>
                <a:latin typeface="Arial"/>
              </a:rPr>
              <a:t>Where the minutes go today (seconds)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B7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Lineage + review</c:v>
                  </c:pt>
                  <c:pt idx="1">
                    <c:v>Input gather</c:v>
                  </c:pt>
                  <c:pt idx="2">
                    <c:v>AI conversion (large calls)</c:v>
                  </c:pt>
                  <c:pt idx="3">
                    <c:v>Config rows → dbt (18 calls)</c:v>
                  </c:pt>
                  <c:pt idx="4">
                    <c:v>Build + push + deploy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16</c:v>
                </c:pt>
                <c:pt idx="2">
                  <c:v>343</c:v>
                </c:pt>
                <c:pt idx="3">
                  <c:v>121</c:v>
                </c:pt>
                <c:pt idx="4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6B7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22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SFGLUE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+ AWS Glue → Databricks,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migrated as a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migration of the pipeline AND everything around it — config-driven transforms, control framework, orchestration (Glue Workflows &amp; Airflow), data quality, governance.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B6E9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484632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Glue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CDL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88336" y="5129784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8" name="Shape 6"/>
          <p:cNvSpPr/>
          <p:nvPr/>
        </p:nvSpPr>
        <p:spPr>
          <a:xfrm>
            <a:off x="3127248" y="484632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155A8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484632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Workflows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38344" y="5129784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1" name="Shape 9"/>
          <p:cNvSpPr/>
          <p:nvPr/>
        </p:nvSpPr>
        <p:spPr>
          <a:xfrm>
            <a:off x="5477256" y="48463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8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550408" y="4846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sfglue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 · convert · verify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25512" y="5129784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4" name="Shape 12"/>
          <p:cNvSpPr/>
          <p:nvPr/>
        </p:nvSpPr>
        <p:spPr>
          <a:xfrm>
            <a:off x="7964424" y="48463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7A2812"/>
          </a:solidFill>
          <a:ln/>
        </p:spPr>
      </p:sp>
      <p:sp>
        <p:nvSpPr>
          <p:cNvPr id="15" name="Text 13"/>
          <p:cNvSpPr/>
          <p:nvPr/>
        </p:nvSpPr>
        <p:spPr>
          <a:xfrm>
            <a:off x="8037576" y="4846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dbt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C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Unity Catalog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companion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is the easy part — the system is the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E3F1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CDL estate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→ S3 landing / raw / curated / publish → Glue jobs → Snowflake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 metadata: configuration_master, query_configuration, batch &amp; file ledgers, stitching rules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Workflows + Airflow DAGs (sensors, triggers, cron)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dq_rules tables driving per-column checks + reject routing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/ API consumers reading the Snowflake publish layer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9320" y="1627632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script-by-script conversion fails here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89320" y="2121408"/>
            <a:ext cx="347472" cy="347472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12140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config tables, not code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 SQL is rows in query_configuration; the Glue jobs are generic engines. Convert the scripts and you've converted almost nothing.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3200400"/>
            <a:ext cx="347472" cy="347472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320040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136392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graphs are invisible to code tools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predicates, cron schedules, sensors, and run-properties don't appear in any script.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279392"/>
            <a:ext cx="347472" cy="347472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427939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215384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the contract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lifecycle, file audit, reject routing, and stitching semantics must survive the move.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5358384"/>
            <a:ext cx="347472" cy="347472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535838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5294376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consumers must be re-pointed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grants, outbound feeds, and Snowflake pipeline objects all reference the old estate.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sfglue migrates all five layers,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420624" cy="420624"/>
          </a:xfrm>
          <a:prstGeom prst="ellipse">
            <a:avLst/>
          </a:prstGeom>
          <a:solidFill>
            <a:srgbClr val="1B6E9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47088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89888" y="1847088"/>
            <a:ext cx="2508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Introspect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schemas &amp; pipeline objects, Glue catalog + job scripts, Workflows &amp; triggers, the Postgres control framework (12 table patterns), Airflow DAGs, Lake Formation grants.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160020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1624" y="1847088"/>
            <a:ext cx="420624" cy="420624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1" name="Text 9"/>
          <p:cNvSpPr/>
          <p:nvPr/>
        </p:nvSpPr>
        <p:spPr>
          <a:xfrm>
            <a:off x="4474464" y="1847088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8552" y="1847088"/>
            <a:ext cx="2508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1624" y="246888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(Bedrock · Claude Sonnet) rewrites transform SQL into dbt models &amp; PySpark notebooks; deterministic engines emit DDL, Jobs, DAB YAML, dbt tests, UC grants — no AI where none is needed.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1600200"/>
            <a:ext cx="3514344" cy="3017520"/>
          </a:xfrm>
          <a:prstGeom prst="roundRect">
            <a:avLst>
              <a:gd name="adj" fmla="val 2424"/>
            </a:avLst>
          </a:prstGeom>
          <a:solidFill>
            <a:srgbClr val="F2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0288" y="1847088"/>
            <a:ext cx="420624" cy="4206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63128" y="1847088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7216" y="1847088"/>
            <a:ext cx="2508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00288" y="246888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checkpoint, Unity Catalog precheck, real build, row-count reconcile, then it runs the migrated Job as a gate and grades fidelity in a report.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gaps covered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90138" y="489204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390138" y="571500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introspected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1636" y="489204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231636" y="571500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all green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73134" y="489204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9073134" y="571500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checkpoint — the rest is automated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RIG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'original' pipeline, rebuilt in AWS — and it runs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 honestly, we reconstructed the reference CDL architecture with live services — not mocks.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B6E9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6596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landing/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drops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24912" y="2231136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8" name="Shape 6"/>
          <p:cNvSpPr/>
          <p:nvPr/>
        </p:nvSpPr>
        <p:spPr>
          <a:xfrm>
            <a:off x="3163824" y="1965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B6E9C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196596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copies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0096" y="2231136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1" name="Shape 9"/>
          <p:cNvSpPr/>
          <p:nvPr/>
        </p:nvSpPr>
        <p:spPr>
          <a:xfrm>
            <a:off x="5779008" y="1965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5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96596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curated/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Delta-style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231136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1965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5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344" y="196596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star schema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Glue jobs orchestrated by the cdl_ingest workflow — config load → batch open → zone hops → batch close — every job dialing a Postgres control DB for its instructions.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9476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jobs green, end to 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90138" y="361188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3573018" y="379476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27,340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573018" y="44805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published across 6 entities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1636" y="361188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14516" y="379476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zones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414516" y="44805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traversed with matching counts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73134" y="361188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9256014" y="379476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Self-closing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256014" y="44805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lifecycle: Completed / 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conversion the app produces is tested against a pipeline that actually moves data — the reference run doubles as the integration test.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language changes — determinism everywhere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7236" cy="4160520"/>
          </a:xfrm>
          <a:prstGeom prst="roundRect">
            <a:avLst>
              <a:gd name="adj" fmla="val 1758"/>
            </a:avLst>
          </a:prstGeom>
          <a:solidFill>
            <a:srgbClr val="FDEAE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(Bedrock · Claude Sonnet)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SQL → dbt models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query_configuration rows and Snowflake SQL rewritten to Databricks dialect, ref()/source() wired from real bronze columns.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PySpark → Databricks notebooks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scripts converted with the framework contract preserved (batch/audit calls, partitions).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narration &amp; fidelity grading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Guard-railed: SQL verb allow-list, truncation-continuation loop, scaffold fallback if the model fails.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3076" y="1600200"/>
            <a:ext cx="5317236" cy="4160520"/>
          </a:xfrm>
          <a:prstGeom prst="roundRect">
            <a:avLst>
              <a:gd name="adj" fmla="val 1758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78308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engines  (pure Python, unit-tested)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7396" y="219456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Workflows &amp; Airflow DAGs → Jobs 2.1 JSON + DAB YAML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schema: framework tables → Delta DDL + fw_* runtime notebooks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compiler: dq_rules → dbt tests, quarantine models, notebook checks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Lake Formation → Unity Catalog GRANT diff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cutover kit from Snowflake ACCESS_HISTORY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push, idempotent Job deploy (tagged), run-and-poll gate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artifact map drives Glue-workflow and Airflow conversion alike.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 spend stays small and auditable (~$0.56 per full conversion run), and everything reproducible is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automated migration run — ten phases, one checkpoint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6459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lineage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targets, duplication flags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6151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5603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source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scripts + Snowflake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5295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34747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conversion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· DDL · notebooks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365760" cy="365760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4439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43891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checkpoint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human gate — approve or edit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3583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53035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Precheck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/ warehouse validation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17007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0" name="Text 18"/>
          <p:cNvSpPr/>
          <p:nvPr/>
        </p:nvSpPr>
        <p:spPr>
          <a:xfrm>
            <a:off x="6185916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3428" y="16459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created in Databricks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23076" y="26151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3" name="Text 21"/>
          <p:cNvSpPr/>
          <p:nvPr/>
        </p:nvSpPr>
        <p:spPr>
          <a:xfrm>
            <a:off x="6185916" y="26151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3428" y="25603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source vs target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23076" y="35295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6" name="Text 24"/>
          <p:cNvSpPr/>
          <p:nvPr/>
        </p:nvSpPr>
        <p:spPr>
          <a:xfrm>
            <a:off x="6185916" y="35295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3428" y="34747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+ dbt project → /Shared/sfglue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3076" y="44439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9" name="Text 27"/>
          <p:cNvSpPr/>
          <p:nvPr/>
        </p:nvSpPr>
        <p:spPr>
          <a:xfrm>
            <a:off x="6185916" y="44439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3428" y="43891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Workflows + Airflow DAGs → Jobs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23076" y="5358384"/>
            <a:ext cx="365760" cy="365760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32" name="Text 30"/>
          <p:cNvSpPr/>
          <p:nvPr/>
        </p:nvSpPr>
        <p:spPr>
          <a:xfrm>
            <a:off x="6185916" y="53583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3428" y="5303520"/>
            <a:ext cx="47868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gate  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migrated Job; all tasks must green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8–10 are non-fatal: an environment hiccup marks the phase and the run still completes — the report shows what needs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the control plane, not just the scripts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sfglue detects the metadata-driven pattern (12 framework-table fingerprints) and treats config rows as the real source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17520" cy="3108960"/>
          </a:xfrm>
          <a:prstGeom prst="roundRect">
            <a:avLst>
              <a:gd name="adj" fmla="val 1818"/>
            </a:avLst>
          </a:prstGeom>
          <a:solidFill>
            <a:srgbClr val="E3F1F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103120"/>
            <a:ext cx="28712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control 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query_configuration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configuration_master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parent_batch_process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ingestion ledgers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stitching_configuration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dq_rules · outbound config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67328" y="3520440"/>
            <a:ext cx="457200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103120"/>
            <a:ext cx="7132320" cy="932688"/>
          </a:xfrm>
          <a:prstGeom prst="roundRect">
            <a:avLst>
              <a:gd name="adj" fmla="val 686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9456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dbt models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 row becomes a governed, versioned model (AI + scaffold fallback)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200400"/>
            <a:ext cx="7132320" cy="932688"/>
          </a:xfrm>
          <a:prstGeom prst="roundRect">
            <a:avLst>
              <a:gd name="adj" fmla="val 6863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29184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Control-schema Delta DDL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tables recreated as control__* tables in Unity Catalog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4297680"/>
            <a:ext cx="7132320" cy="932688"/>
          </a:xfrm>
          <a:prstGeom prst="roundRect">
            <a:avLst>
              <a:gd name="adj" fmla="val 6863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438912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fw_* runtime notebooks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open/close + file audit — the lifecycle survives the move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E+L vs T split:  </a:t>
            </a:r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extract-and-load jobs become PySpark notebooks; transformation jobs become dbt models at the bronze boundary — each piece lands in its natural Databricks home.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Glue Workflows → Databricks Jobs, deterministically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1B6E9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28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trigger predicates + cron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63824" y="2167128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18288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85032" y="1828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depends_on · schedule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2167128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8288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E8502E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1828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2.1 JSON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DAB YAML bundle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90304" y="2167128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3" name="Shape 11"/>
          <p:cNvSpPr/>
          <p:nvPr/>
        </p:nvSpPr>
        <p:spPr>
          <a:xfrm>
            <a:off x="9738360" y="182880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7A2812"/>
          </a:solidFill>
          <a:ln/>
        </p:spPr>
      </p:sp>
      <p:sp>
        <p:nvSpPr>
          <p:cNvPr id="14" name="Text 12"/>
          <p:cNvSpPr/>
          <p:nvPr/>
        </p:nvSpPr>
        <p:spPr>
          <a:xfrm>
            <a:off x="9811512" y="182880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C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idempotent, tagged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347472" cy="347472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272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→ Quartz translation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cron(), 5/6-field, and Airflow presets (@daily…) all map to Databricks schedules.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347472" cy="347472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87705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83133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map, auto-derived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legacy task binds to its converted artifact: framework notebook, transform notebook, or dbt task — inferred from the conversion output.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26864"/>
            <a:ext cx="347472" cy="347472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62686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5811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Serverless-ready payloads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spec + dbt-databricks dependency + warehouse binding injected; notebook paths rewritten under /Shared/sfglue.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347472" cy="347472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537667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533095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tag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re-deploys update the same Job (tags.sfglue_source) — run it twice, get one Job.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 this path — orchestration conversion is fully deterministic and covered by unit tests.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AIRFLOW AS SOURCE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the DAG — no access to the customer's Airflow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55A8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2880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→ Code tab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DAG source (or REST API)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92424" y="2167128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0" y="18288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913632" y="182880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· &gt;&gt; chains · schedules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84264" y="2167128"/>
            <a:ext cx="310896" cy="201168"/>
          </a:xfrm>
          <a:prstGeom prst="rightArrow">
            <a:avLst/>
          </a:prstGeom>
          <a:solidFill>
            <a:srgbClr val="5B6B75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18288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E8502E"/>
          </a:solidFill>
          <a:ln/>
        </p:spPr>
      </p:sp>
      <p:sp>
        <p:nvSpPr>
          <p:cNvPr id="11" name="Text 9"/>
          <p:cNvSpPr/>
          <p:nvPr/>
        </p:nvSpPr>
        <p:spPr>
          <a:xfrm>
            <a:off x="7205472" y="182880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normalized DAG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deploy path as Glue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47472" cy="347472"/>
          </a:xfrm>
          <a:prstGeom prst="ellipse">
            <a:avLst/>
          </a:prstGeom>
          <a:solidFill>
            <a:srgbClr val="15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272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0815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GlueJobOperator job_name carries through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orchestrates the same Glue jobs — so the SAME artifact map converts it. Nothing re-mapped by hand.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347472" cy="347472"/>
          </a:xfrm>
          <a:prstGeom prst="ellipse">
            <a:avLst/>
          </a:prstGeom>
          <a:solidFill>
            <a:srgbClr val="15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87705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83133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become architecture decisions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S3KeySensor → flagged for a native Databricks file-arrival trigger; the polling task is dropped, not translated.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347472" cy="347472"/>
          </a:xfrm>
          <a:prstGeom prst="ellipse">
            <a:avLst/>
          </a:prstGeom>
          <a:solidFill>
            <a:srgbClr val="155A8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62686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5811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intake modes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source into the app (zero access), or point at a live Airflow REST API with credentials.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76672"/>
            <a:ext cx="347472" cy="347472"/>
          </a:xfrm>
          <a:prstGeom prst="ellipse">
            <a:avLst/>
          </a:prstGeom>
          <a:solidFill>
            <a:srgbClr val="155A8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37667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33095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  —  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DAG (sensor + 6 Glue jobs + notify) converts to an 8-task Databricks Job with the 0 2 * * * schedule intact.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line: “We never touched their Airflow server. We read the DAG the same way you do — from the screen.”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SURROUNDING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governance, and consumers move too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3291840"/>
          </a:xfrm>
          <a:prstGeom prst="roundRect">
            <a:avLst>
              <a:gd name="adj" fmla="val 2222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50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9657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dq_rules rows classified and compiled into dbt schema tests, __rejects quarantine models for reject-routing rules, and notebook checks for the rest. Alert templates become Job email notifications.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1691640"/>
            <a:ext cx="3514344" cy="3291840"/>
          </a:xfrm>
          <a:prstGeom prst="roundRect">
            <a:avLst>
              <a:gd name="adj" fmla="val 2222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1624" y="1920240"/>
            <a:ext cx="402336" cy="402336"/>
          </a:xfrm>
          <a:prstGeom prst="ellipse">
            <a:avLst/>
          </a:prstGeom>
          <a:solidFill>
            <a:srgbClr val="10222E"/>
          </a:solidFill>
          <a:ln/>
        </p:spPr>
      </p:sp>
      <p:sp>
        <p:nvSpPr>
          <p:cNvPr id="11" name="Text 9"/>
          <p:cNvSpPr/>
          <p:nvPr/>
        </p:nvSpPr>
        <p:spPr>
          <a:xfrm>
            <a:off x="4474464" y="192024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0264" y="1920240"/>
            <a:ext cx="250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1624" y="2514600"/>
            <a:ext cx="29657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permissions exported and diffed into Unity Catalog GRANT statements — reviewable SQL plus a principal-mapping worksheet, never blind-applied.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1691640"/>
            <a:ext cx="3514344" cy="3291840"/>
          </a:xfrm>
          <a:prstGeom prst="roundRect">
            <a:avLst>
              <a:gd name="adj" fmla="val 2222"/>
            </a:avLst>
          </a:prstGeom>
          <a:solidFill>
            <a:srgbClr val="F2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0288" y="1920240"/>
            <a:ext cx="402336" cy="402336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63128" y="192024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48928" y="1920240"/>
            <a:ext cx="250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cutover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0288" y="2514600"/>
            <a:ext cx="29657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ACCESS_HISTORY inventories who actually reads the publish layer; the kit generates a per-consumer cutover doc. Snowflake tasks/streams/pipes are catalogued with Databricks equivalents.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in one bundle:  </a:t>
            </a:r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project + notebooks + DDL + Jobs YAML + grants SQL + cutover docs, exportable as a versioned Databricks Asset Bundle.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verification layers before anyone believes the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64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737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  — 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artifact reviewable/editable before anything touches Databricks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478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4505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Precheck  — 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Catalog, warehouse, and source-table existence validated up front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1912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31638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reconcile  — 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actually built; row counts compared source vs target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04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8770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migrated Job  — 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Job executes end to end — all tasks must go green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459028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report  —  </a:t>
            </a:r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fidelity grade per artifact + full run summary, exportable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0F2A38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8745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reference estate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2402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36/36  </a:t>
            </a:r>
            <a:pPr indent="0" marL="0">
              <a:buNone/>
            </a:pPr>
            <a:r>
              <a:rPr lang="en-US" sz="11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green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6676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 </a:t>
            </a:r>
            <a:pPr indent="0" marL="0">
              <a:buNone/>
            </a:pPr>
            <a:r>
              <a:rPr lang="en-US" sz="11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built &amp; reconciled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66760" y="3666744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 </a:t>
            </a:r>
            <a:pPr indent="0" marL="0">
              <a:buNone/>
            </a:pPr>
            <a:r>
              <a:rPr lang="en-US" sz="11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workflow jobs green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66760" y="4379976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deployed (incl. Airflow-derived)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gate caught real defects during development — wrong catalog, missing serverless spec, path errors — before any human did.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acts, all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344" cy="3749040"/>
          </a:xfrm>
          <a:prstGeom prst="roundRect">
            <a:avLst>
              <a:gd name="adj" fmla="val 2082"/>
            </a:avLst>
          </a:prstGeom>
          <a:solidFill>
            <a:srgbClr val="1738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original, running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zones filling in the AWS console · cdl_ingest workflow 6/6 green · control-DB ledgers filling · the same chain visible as an Airflow DAG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7304" y="1737360"/>
            <a:ext cx="3514344" cy="3749040"/>
          </a:xfrm>
          <a:prstGeom prst="roundRect">
            <a:avLst>
              <a:gd name="adj" fmla="val 2082"/>
            </a:avLst>
          </a:prstGeom>
          <a:solidFill>
            <a:srgbClr val="17384A"/>
          </a:solidFill>
          <a:ln/>
        </p:spPr>
      </p:sp>
      <p:sp>
        <p:nvSpPr>
          <p:cNvPr id="9" name="Text 7"/>
          <p:cNvSpPr/>
          <p:nvPr/>
        </p:nvSpPr>
        <p:spPr>
          <a:xfrm>
            <a:off x="4611624" y="1965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1624" y="22860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migration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1624" y="297180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sources · paste the Airflow DAG from the Code tab · Run migration · pause at the checkpoint to show generated dbt/DDL/notebooks · Continue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1737360"/>
            <a:ext cx="3514344" cy="3749040"/>
          </a:xfrm>
          <a:prstGeom prst="roundRect">
            <a:avLst>
              <a:gd name="adj" fmla="val 2082"/>
            </a:avLst>
          </a:prstGeom>
          <a:solidFill>
            <a:srgbClr val="1738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00288" y="1965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00288" y="22860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migrated system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00288" y="2971800"/>
            <a:ext cx="2965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Databricks: models built, 27k rows reconciled · Workflows list shows the deployed Jobs incl. sfglue — cdl_ingest_airflow · fidelity report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beat: the one job left red is publish_to_snowflake — the job this migration makes obsolete.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run produced on the reference estate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(legacy)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(Databricks)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11274552" cy="896112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logic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rows in query_configuration + 7 generic Glue jobs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dbt models + 9 Databricks notebooks (60 files pushed to /Shared/sfglue)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535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framework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2953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Postgres tables + RDS plumbing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Delta DDL statements (control__* + medallion tables) + fw_* notebooks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74552" cy="896112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96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38496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cdl_ingest Glue workflow + cdl_ingest_airflow DAG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384962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Jobs incl. sfglue — cdl_ingest_airflow; sensor → file-arrival trigger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7457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governance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0" y="474573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dq_rules tables, Lake Formation grants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0" y="474573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+ quarantine models · UC GRANT diff 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586984"/>
            <a:ext cx="11274552" cy="896112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6418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0" y="56418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publish layer + replication job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5641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gold — publish_to_snowflake retired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to run today — and a clear path to a 2-minute run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8308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plan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040880" y="2258568"/>
            <a:ext cx="329184" cy="329184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7" name="Text 4"/>
          <p:cNvSpPr/>
          <p:nvPr/>
        </p:nvSpPr>
        <p:spPr>
          <a:xfrm>
            <a:off x="6903720" y="225856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16368" y="2203704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AI calls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large calls concurrently: 5.7 min → ~95 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40880" y="3099816"/>
            <a:ext cx="329184" cy="329184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0" name="Text 7"/>
          <p:cNvSpPr/>
          <p:nvPr/>
        </p:nvSpPr>
        <p:spPr>
          <a:xfrm>
            <a:off x="6903720" y="309981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16368" y="3044952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for small rewrites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per-row conversions, 3–4× faster &amp; cheaper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0880" y="3941064"/>
            <a:ext cx="329184" cy="329184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3" name="Text 10"/>
          <p:cNvSpPr/>
          <p:nvPr/>
        </p:nvSpPr>
        <p:spPr>
          <a:xfrm>
            <a:off x="6903720" y="3941064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16368" y="3886200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verification gate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 poll budget kills the 25-min worst case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4782312"/>
            <a:ext cx="329184" cy="329184"/>
          </a:xfrm>
          <a:prstGeom prst="ellipse">
            <a:avLst/>
          </a:prstGeom>
          <a:solidFill>
            <a:srgbClr val="E8502E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478231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16368" y="4727448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by input hash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sources → checkpoint in seconds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$0.56</a:t>
            </a:r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full conversion run (Claude Sonnet on Bedrock) — the AI bill is a rounding error next to the engineering it replaces.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done, what's deliberate,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7236" cy="4206240"/>
          </a:xfrm>
          <a:prstGeom prst="roundRect">
            <a:avLst>
              <a:gd name="adj" fmla="val 1739"/>
            </a:avLst>
          </a:prstGeom>
          <a:solidFill>
            <a:srgbClr val="EAF5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and demoable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gap-analysis items implemented (Phases 0–7)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reference estate: original pipeline 6/6 green in AWS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intake (paste or REST) through the app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build + reconcile + Job deploy + run gate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testers for every endpoint incl. Databricks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unit tests; deterministic engines fully covered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076" y="1645920"/>
            <a:ext cx="5317236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82880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scope lines &amp; 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7396" y="2240280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publish_to_snowflake intentionally retired — Databricks IS the warehouse on the target side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generated as reviewable SQL, never auto-applied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parallel AI conversion (2-minute runs)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SSE streaming progress for long conversions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parallel-run pilot harness (old vs new, N days)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DQ replay gate on historical batches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 the system,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SQL.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35204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17384A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70332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Config-aware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21648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converts as first-class source code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90138" y="35204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17384A"/>
          </a:solidFill>
          <a:ln/>
        </p:spPr>
      </p:sp>
      <p:sp>
        <p:nvSpPr>
          <p:cNvPr id="7" name="Text 5"/>
          <p:cNvSpPr/>
          <p:nvPr/>
        </p:nvSpPr>
        <p:spPr>
          <a:xfrm>
            <a:off x="3591306" y="370332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Orchestrator-agnostic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91306" y="4114800"/>
            <a:ext cx="21648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Workflows and Airflow DAGs land in the same Jobs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1636" y="35204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17384A"/>
          </a:solidFill>
          <a:ln/>
        </p:spPr>
      </p:sp>
      <p:sp>
        <p:nvSpPr>
          <p:cNvPr id="10" name="Text 8"/>
          <p:cNvSpPr/>
          <p:nvPr/>
        </p:nvSpPr>
        <p:spPr>
          <a:xfrm>
            <a:off x="6432804" y="370332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vibes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2804" y="4114800"/>
            <a:ext cx="21648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→ build → reconcile → run the Job → graded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73134" y="35204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17384A"/>
          </a:solidFill>
          <a:ln/>
        </p:spPr>
      </p:sp>
      <p:sp>
        <p:nvSpPr>
          <p:cNvPr id="13" name="Text 11"/>
          <p:cNvSpPr/>
          <p:nvPr/>
        </p:nvSpPr>
        <p:spPr>
          <a:xfrm>
            <a:off x="9274302" y="3703320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fast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74302" y="4114800"/>
            <a:ext cx="21648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~$0.56 per run today; 2-minute runs on the roadmap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sfglue · Snowflake + AWS Glue → Databricks/dbt migration accelerator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2026-07-14T11:11:15Z</dcterms:created>
  <dcterms:modified xsi:type="dcterms:W3CDTF">2026-07-14T11:11:15Z</dcterms:modified>
</cp:coreProperties>
</file>